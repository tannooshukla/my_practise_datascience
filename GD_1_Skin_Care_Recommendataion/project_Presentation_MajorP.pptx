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7" r:id="rId3"/>
    <p:sldId id="257" r:id="rId4"/>
    <p:sldId id="258" r:id="rId5"/>
    <p:sldId id="259" r:id="rId6"/>
    <p:sldId id="264" r:id="rId7"/>
    <p:sldId id="265" r:id="rId8"/>
    <p:sldId id="268" r:id="rId9"/>
    <p:sldId id="269" r:id="rId10"/>
    <p:sldId id="270" r:id="rId11"/>
    <p:sldId id="263" r:id="rId12"/>
    <p:sldId id="262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695"/>
  </p:normalViewPr>
  <p:slideViewPr>
    <p:cSldViewPr snapToGrid="0">
      <p:cViewPr>
        <p:scale>
          <a:sx n="66" d="100"/>
          <a:sy n="66" d="100"/>
        </p:scale>
        <p:origin x="544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noo Shukla" userId="b42b9263d6b87a34" providerId="LiveId" clId="{940340BC-C6E2-400C-8A98-C54F91BD0B84}"/>
    <pc:docChg chg="modSld">
      <pc:chgData name="Tannoo Shukla" userId="b42b9263d6b87a34" providerId="LiveId" clId="{940340BC-C6E2-400C-8A98-C54F91BD0B84}" dt="2025-11-07T08:14:40.332" v="0" actId="20577"/>
      <pc:docMkLst>
        <pc:docMk/>
      </pc:docMkLst>
      <pc:sldChg chg="modSp mod">
        <pc:chgData name="Tannoo Shukla" userId="b42b9263d6b87a34" providerId="LiveId" clId="{940340BC-C6E2-400C-8A98-C54F91BD0B84}" dt="2025-11-07T08:14:40.332" v="0" actId="20577"/>
        <pc:sldMkLst>
          <pc:docMk/>
          <pc:sldMk cId="2218160854" sldId="256"/>
        </pc:sldMkLst>
        <pc:spChg chg="mod">
          <ac:chgData name="Tannoo Shukla" userId="b42b9263d6b87a34" providerId="LiveId" clId="{940340BC-C6E2-400C-8A98-C54F91BD0B84}" dt="2025-11-07T08:14:40.332" v="0" actId="20577"/>
          <ac:spMkLst>
            <pc:docMk/>
            <pc:sldMk cId="2218160854" sldId="256"/>
            <ac:spMk id="7" creationId="{5DFAC4AE-B55D-13FC-16FA-087930764C96}"/>
          </ac:spMkLst>
        </pc:spChg>
      </pc:sldChg>
    </pc:docChg>
  </pc:docChgLst>
  <pc:docChgLst>
    <pc:chgData name="Tannoo Shukla" userId="b42b9263d6b87a34" providerId="LiveId" clId="{D1A51DC8-E78B-4851-80FB-E25B82F606EB}"/>
    <pc:docChg chg="undo custSel addSld modSld sldOrd">
      <pc:chgData name="Tannoo Shukla" userId="b42b9263d6b87a34" providerId="LiveId" clId="{D1A51DC8-E78B-4851-80FB-E25B82F606EB}" dt="2025-08-27T08:15:12.442" v="371" actId="20577"/>
      <pc:docMkLst>
        <pc:docMk/>
      </pc:docMkLst>
      <pc:sldChg chg="modSp mod">
        <pc:chgData name="Tannoo Shukla" userId="b42b9263d6b87a34" providerId="LiveId" clId="{D1A51DC8-E78B-4851-80FB-E25B82F606EB}" dt="2025-08-25T08:47:22.191" v="168" actId="20577"/>
        <pc:sldMkLst>
          <pc:docMk/>
          <pc:sldMk cId="2218160854" sldId="256"/>
        </pc:sldMkLst>
      </pc:sldChg>
      <pc:sldChg chg="ord">
        <pc:chgData name="Tannoo Shukla" userId="b42b9263d6b87a34" providerId="LiveId" clId="{D1A51DC8-E78B-4851-80FB-E25B82F606EB}" dt="2025-08-26T05:30:35.751" v="173"/>
        <pc:sldMkLst>
          <pc:docMk/>
          <pc:sldMk cId="1596182739" sldId="257"/>
        </pc:sldMkLst>
      </pc:sldChg>
      <pc:sldChg chg="modSp mod">
        <pc:chgData name="Tannoo Shukla" userId="b42b9263d6b87a34" providerId="LiveId" clId="{D1A51DC8-E78B-4851-80FB-E25B82F606EB}" dt="2025-08-26T05:11:48.912" v="171" actId="2711"/>
        <pc:sldMkLst>
          <pc:docMk/>
          <pc:sldMk cId="4273977370" sldId="264"/>
        </pc:sldMkLst>
      </pc:sldChg>
      <pc:sldChg chg="addSp modSp mod">
        <pc:chgData name="Tannoo Shukla" userId="b42b9263d6b87a34" providerId="LiveId" clId="{D1A51DC8-E78B-4851-80FB-E25B82F606EB}" dt="2025-08-27T08:15:12.442" v="371" actId="20577"/>
        <pc:sldMkLst>
          <pc:docMk/>
          <pc:sldMk cId="3442979170" sldId="265"/>
        </pc:sldMkLst>
      </pc:sldChg>
      <pc:sldChg chg="addSp modSp new mod ord">
        <pc:chgData name="Tannoo Shukla" userId="b42b9263d6b87a34" providerId="LiveId" clId="{D1A51DC8-E78B-4851-80FB-E25B82F606EB}" dt="2025-08-25T08:48:51.266" v="170"/>
        <pc:sldMkLst>
          <pc:docMk/>
          <pc:sldMk cId="565515672" sldId="267"/>
        </pc:sldMkLst>
      </pc:sldChg>
      <pc:sldChg chg="addSp delSp modSp new mod">
        <pc:chgData name="Tannoo Shukla" userId="b42b9263d6b87a34" providerId="LiveId" clId="{D1A51DC8-E78B-4851-80FB-E25B82F606EB}" dt="2025-08-26T06:38:42.639" v="338" actId="403"/>
        <pc:sldMkLst>
          <pc:docMk/>
          <pc:sldMk cId="2083407834" sldId="268"/>
        </pc:sldMkLst>
      </pc:sldChg>
      <pc:sldChg chg="modSp add mod">
        <pc:chgData name="Tannoo Shukla" userId="b42b9263d6b87a34" providerId="LiveId" clId="{D1A51DC8-E78B-4851-80FB-E25B82F606EB}" dt="2025-08-26T06:38:48.008" v="339" actId="403"/>
        <pc:sldMkLst>
          <pc:docMk/>
          <pc:sldMk cId="60718331" sldId="269"/>
        </pc:sldMkLst>
      </pc:sldChg>
      <pc:sldChg chg="modSp add mod">
        <pc:chgData name="Tannoo Shukla" userId="b42b9263d6b87a34" providerId="LiveId" clId="{D1A51DC8-E78B-4851-80FB-E25B82F606EB}" dt="2025-08-26T06:40:10.325" v="355" actId="403"/>
        <pc:sldMkLst>
          <pc:docMk/>
          <pc:sldMk cId="3425372009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AC557B-C4FF-4DA6-ADFB-0B8808D71A11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4533E5-C71A-49E0-8314-A5770E580A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16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F51B0-1886-A476-963D-C65F4299E5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4A09DE-9C70-41F8-9D07-C44D779336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F6E88-5CCE-2AEB-03CD-8517603D9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1B80D-D687-4193-B7A6-107BC2D7FD10}" type="datetime1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FFA17-AEF2-5839-4B36-12208DA1A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1BCBE-329D-2C6A-BCF6-2A4EAE566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130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527B5-48C7-BB00-CB56-74CA54B95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7CBBD-79C1-0E65-6949-027E3760A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BBD0E-5759-DC56-02FF-00C109B6F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0C979-4D1B-4800-BB23-B28E9D13ED73}" type="datetime1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2FE48-D0A8-30DF-F303-AE317AC50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15FEC-CA2C-4AD3-C48E-ED31DE16C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335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F37AB-515A-5ABA-721A-25D965B5E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962FD-826C-BECB-CBB0-42CDC5FC1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DB465-5276-D7BF-D6CD-FFEB4C3CE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FB49D-93A5-409F-8CD3-AEBDADFF099D}" type="datetime1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F1B41-CFEA-E89A-A100-EA994F274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1EC94-8A00-F615-EB54-9DE3C46BD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38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0351A-82A0-89C5-1042-B948C64F0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3337A-4E1F-4C0B-5966-EEF9078FF4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3218AB-14F4-2F2D-311E-2D1D2C2BD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94107-207C-F769-F8C5-1AA5188CC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0B9B-697F-493D-9572-7A6C6C15CFB9}" type="datetime1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31B1C-4E03-CA4E-C75D-325B829E5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72EF0-A559-26A2-4F4C-3128D846B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123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80048-BCB7-8181-DC0C-19596FB63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D55BE-8719-9F9B-3B83-6A2DB7DF2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662071-3E0F-3153-736F-0339B86CE9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2ADD61-EE60-902C-7CB2-B4EAA28C91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8E76E1-41DC-ECA9-C807-74AC1CA7B5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7C983E-E81F-A45B-B4C3-64DAB7F8E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486F-B25C-4D66-BCE7-DFFC0CCB44A4}" type="datetime1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7D0367-48FF-0A30-AC47-54B5A5C3E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9CD79C-8508-76DF-EE6C-5D23F8458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09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8C35-7462-B1A7-07E8-399F784B1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2B5D29-6A78-3F7B-E289-22D2224D6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72684-7525-490F-9829-C1783EAB27AB}" type="datetime1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ACE696-442F-2B4C-754D-6B1191F9B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52C6F2-3A2A-701A-936F-398BF6AF2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071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538889-F740-7815-17A2-58BDB8CC0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ED5CA-9FA9-453B-BDAA-07A9BFAD031F}" type="datetime1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55484E-0DB7-B38B-3092-319CBC3EC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D1043-E4AA-61E9-2738-55CDE9A88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80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283D0-DDE0-FCF0-2220-C8671F31C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F3384-FC31-A4A9-AEF3-C957EC678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DB2748-67B6-8E5A-7469-5A3CB3B34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F5865-8AE1-4967-121C-74ACC2B2B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FA945-25B0-42EC-89D5-00E4ABD93A75}" type="datetime1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3C50A2-69BD-607C-0A65-36EAC0E6A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F824B-8E73-A093-68C3-1C688C799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231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D53FE-C960-BC3B-94AE-131A6C82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9D1D2F-B357-5719-6F14-C0F0060208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00F00-7D95-2744-32A6-251116275B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2CC64-7585-6B8C-9CA7-F3CE2F7A0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FA809-591B-473C-B7C3-489290B66565}" type="datetime1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FF051-A395-3330-984C-EDEEA58C0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07914-2902-EBED-3710-FCAAF2365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337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B3D05-F10E-047E-8809-7F96D4AE2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ECE18-DC0F-E37D-E935-0251D47E1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91D39-482E-5927-8116-6765E2332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F1BBB-919E-4933-B3A9-81BB13E593BD}" type="datetime1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42E65-0465-1E8D-0ED8-62B153038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46D1F-DEC9-52F8-F3E5-DFD3606AA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592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315593-8E44-3AC4-BE91-18295078F0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CC1D42-2556-85C5-C065-1FE03D1C5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73C10-BDA6-6715-934F-5674A8B88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4595-26FF-4039-836D-0F526C06D1EA}" type="datetime1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EC886-3D8F-8B7D-4A52-4EAE9335F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49EBA-EB25-177C-6B90-09B2EA969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37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5B844C-EF0F-66AB-E02E-3F3427E85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0803FC-D477-DD86-6F3D-3D7D81143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0BAE8-73E8-35B4-809F-13135752A0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5B9A81-04C3-43D3-B7D6-1DFAFCB844F3}" type="datetime1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CA882-60A3-0DD5-C23A-0D15C15E6F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A192A-013A-B21D-9B27-17E4A21D24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629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code/mpwolke/skin-care-products/input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DFAC4AE-B55D-13FC-16FA-087930764C96}"/>
              </a:ext>
            </a:extLst>
          </p:cNvPr>
          <p:cNvSpPr txBox="1"/>
          <p:nvPr/>
        </p:nvSpPr>
        <p:spPr>
          <a:xfrm>
            <a:off x="1545111" y="0"/>
            <a:ext cx="9638001" cy="670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buNone/>
            </a:pPr>
            <a:r>
              <a:rPr lang="en-IN" sz="2000" b="1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Presentation </a:t>
            </a:r>
            <a:endParaRPr lang="en-IN" sz="2000" b="1" dirty="0">
              <a:solidFill>
                <a:srgbClr val="1F497D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  <a:buNone/>
            </a:pPr>
            <a:r>
              <a:rPr lang="en-IN" sz="2400" b="1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Skin Care Recommendation System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  <a:buNone/>
            </a:pPr>
            <a:r>
              <a:rPr lang="en-IN" sz="2000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Tannoo Shukla 202410116100220</a:t>
            </a:r>
          </a:p>
          <a:p>
            <a:pPr algn="ctr">
              <a:spcAft>
                <a:spcPts val="1000"/>
              </a:spcAft>
            </a:pPr>
            <a:r>
              <a:rPr lang="en-IN" sz="2000" dirty="0" err="1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Trapti</a:t>
            </a:r>
            <a:r>
              <a:rPr lang="en-IN" sz="20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Rajput</a:t>
            </a:r>
            <a:r>
              <a:rPr lang="en-IN" sz="2000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202410116100224</a:t>
            </a:r>
          </a:p>
          <a:p>
            <a:pPr algn="ctr">
              <a:spcAft>
                <a:spcPts val="1000"/>
              </a:spcAft>
            </a:pPr>
            <a:r>
              <a:rPr lang="en-IN" sz="20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Tannu </a:t>
            </a:r>
            <a:r>
              <a:rPr lang="en-IN" sz="2000" dirty="0" err="1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Modanwal</a:t>
            </a:r>
            <a:r>
              <a:rPr lang="en-IN" sz="20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202410116100221</a:t>
            </a:r>
          </a:p>
          <a:p>
            <a:pPr algn="ctr">
              <a:spcAft>
                <a:spcPts val="1000"/>
              </a:spcAft>
            </a:pPr>
            <a:r>
              <a:rPr lang="en-IN" sz="20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Vanshika Srivastava 202410116100236</a:t>
            </a:r>
          </a:p>
          <a:p>
            <a:pPr algn="ctr"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Session:2025-2026 (III Semester)</a:t>
            </a:r>
          </a:p>
          <a:p>
            <a:pPr algn="ctr">
              <a:spcAft>
                <a:spcPts val="1000"/>
              </a:spcAft>
              <a:buNone/>
            </a:pPr>
            <a:endParaRPr lang="en-IN" sz="1000" dirty="0">
              <a:solidFill>
                <a:srgbClr val="1F497D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  <a:buNone/>
            </a:pPr>
            <a:r>
              <a:rPr lang="en-IN" sz="2000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Under the supervision of 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</a:t>
            </a:r>
            <a:r>
              <a:rPr lang="en-IN" sz="2000" b="1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Neelam Rawat (Professor)</a:t>
            </a:r>
          </a:p>
          <a:p>
            <a:pPr algn="ctr"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Dr. Amit Kumar Gupta(Professor)</a:t>
            </a:r>
          </a:p>
          <a:p>
            <a:pPr algn="ctr"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Computer Applications</a:t>
            </a:r>
          </a:p>
          <a:p>
            <a:pPr algn="ctr">
              <a:spcAft>
                <a:spcPts val="1000"/>
              </a:spcAft>
            </a:pPr>
            <a:r>
              <a:rPr lang="en-IN" sz="2000" b="1" dirty="0">
                <a:solidFill>
                  <a:srgbClr val="1F4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KIET GROUP OF INSTITUTIONS, DELHI-NCR, GHAZIABAD-201206</a:t>
            </a:r>
          </a:p>
          <a:p>
            <a:pPr algn="ctr">
              <a:spcAft>
                <a:spcPts val="1000"/>
              </a:spcAft>
            </a:pPr>
            <a:endParaRPr lang="en-IN" sz="110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close-up of a logo&#10;&#10;AI-generated content may be incorrect.">
            <a:extLst>
              <a:ext uri="{FF2B5EF4-FFF2-40B4-BE49-F238E27FC236}">
                <a16:creationId xmlns:a16="http://schemas.microsoft.com/office/drawing/2014/main" id="{48DC02B4-1A9E-669F-DEA5-5FBC82F838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79" y="118660"/>
            <a:ext cx="3309483" cy="91546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5F3810-1D6B-CAF9-DE19-8DF95C6BC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160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DA64F6-E3A1-146A-CFF5-F796BE529F5F}"/>
              </a:ext>
            </a:extLst>
          </p:cNvPr>
          <p:cNvSpPr txBox="1"/>
          <p:nvPr/>
        </p:nvSpPr>
        <p:spPr>
          <a:xfrm>
            <a:off x="3310128" y="352044"/>
            <a:ext cx="5257800" cy="6153912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77BC5-BBB1-09AE-8FC2-07E927659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15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82586F-526E-F6DB-966E-7A7CE99F30EF}"/>
              </a:ext>
            </a:extLst>
          </p:cNvPr>
          <p:cNvSpPr txBox="1"/>
          <p:nvPr/>
        </p:nvSpPr>
        <p:spPr>
          <a:xfrm>
            <a:off x="332510" y="-799"/>
            <a:ext cx="11673444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Title Slide: 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title, team members, and presentation date.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Project Overview: 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Briefly introduce the project, its purpose, and the problem it solves.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the project's significance and potential impact.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Project Objectives: 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Clearly state the specific objectives of the project.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what the project aims to achieve and how success will be measured.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Project Scope: 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the boundaries of the project, outlining what is included and excluded.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Specify the key features, functionalities and modules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Methodology: 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the chosen software development methodology (e.g., Agile, Waterfall).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the tools and technologies used for this approach.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Timeline: 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a visual representation of the project schedule, including major milestones and deadlines.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Gantt chart or similar diagram to show the project's timeline.</a:t>
            </a:r>
          </a:p>
          <a:p>
            <a:pPr marL="0"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Project Outcome: Highlight the final result of the project, such as: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 Publication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Web/Mobile Application Development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Patent Filing/Grant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E9B84C-832A-DB64-4ECD-D6ECDCD60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182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7B10E-8EA8-8A5A-1AD2-55FFE3D69A4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2679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2C6E72CF-B15A-BC4E-886F-013C530E5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" y="2021174"/>
            <a:ext cx="11496676" cy="3076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provide personalized skincare product recommendations using AI.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Choosing the right skincare product is difficult due to diverse skin types and conditions.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 intelligent system that recommends suitable products based on user input such 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skin type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		  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concern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 preference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Helps users make informed decisions, enhances skincare routine, and reduces chances of skin issues.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17EC83-C8BE-16A1-9449-7C1B77C7C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977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55E13-E19A-C116-0318-A510DB516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02AE5-E1B5-98CD-4E74-15135050036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2679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PROJECT OBJECTIVE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B7971DF-F58B-4749-AFDE-9B96FD49A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425" y="2084455"/>
            <a:ext cx="10725150" cy="3076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an AI-based recommendation system for skincare products.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enter details like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skin type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desired product category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skin type detection quiz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users unsure of their skin type.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Publish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the effectiveness and accuracy of the system.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Measure success by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 of recommendations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satisfaction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0F35F8-D392-4B7B-C7A2-0AB6C36D9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299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DFB13-5350-392B-7510-DF240F387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486BF-2580-4D49-E9A0-8CC1C2B0DF6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2679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PROJECT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3D2FC1-FE49-EC00-261A-5D29A2B0B30A}"/>
              </a:ext>
            </a:extLst>
          </p:cNvPr>
          <p:cNvSpPr txBox="1"/>
          <p:nvPr/>
        </p:nvSpPr>
        <p:spPr>
          <a:xfrm>
            <a:off x="868680" y="1673352"/>
            <a:ext cx="10212906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Included: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product recommendations based on user input.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Skin-type quiz functionality for better personalization.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 dataset for training and testing.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Excluded: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dermatology consultation.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integration with e-commerce websites (future scope).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 module: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Skin type, concerns, product type.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engine: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AI-driven suggestions.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quiz module: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identifying skin type.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BAF11E-6D70-9B7D-559D-2FCE63E26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77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74749-A153-2CEA-62C5-302C1E530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CE66E-405A-72CC-3C33-037BADA4114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2679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E68922F-1E79-4852-0511-D8F74D4CB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573" y="1563843"/>
            <a:ext cx="10118559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 Methodology: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Agile approach for iterative development.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Technologies: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building the web application.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implementation and logic development.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be finalized after discussion with mentor (future step).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skincare dataset containing product details, skin types, and concerns.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Link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CA2E8F-9A9F-B1A7-FA6E-6C1510E07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979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6A6226-B841-45D0-A88B-F4F878D6F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8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78017A5-79D8-297D-1F5B-1BA8007610E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2679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LITERATURE REVIEW</a:t>
            </a:r>
            <a:endParaRPr lang="en-IN" sz="40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9F7AF6E-C42B-AAA5-5D82-42DA66919D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305103"/>
              </p:ext>
            </p:extLst>
          </p:nvPr>
        </p:nvGraphicFramePr>
        <p:xfrm>
          <a:off x="473964" y="1538858"/>
          <a:ext cx="11244072" cy="4303949"/>
        </p:xfrm>
        <a:graphic>
          <a:graphicData uri="http://schemas.openxmlformats.org/drawingml/2006/table">
            <a:tbl>
              <a:tblPr/>
              <a:tblGrid>
                <a:gridCol w="2837766">
                  <a:extLst>
                    <a:ext uri="{9D8B030D-6E8A-4147-A177-3AD203B41FA5}">
                      <a16:colId xmlns:a16="http://schemas.microsoft.com/office/drawing/2014/main" val="581370495"/>
                    </a:ext>
                  </a:extLst>
                </a:gridCol>
                <a:gridCol w="2837766">
                  <a:extLst>
                    <a:ext uri="{9D8B030D-6E8A-4147-A177-3AD203B41FA5}">
                      <a16:colId xmlns:a16="http://schemas.microsoft.com/office/drawing/2014/main" val="2937487612"/>
                    </a:ext>
                  </a:extLst>
                </a:gridCol>
                <a:gridCol w="2837766">
                  <a:extLst>
                    <a:ext uri="{9D8B030D-6E8A-4147-A177-3AD203B41FA5}">
                      <a16:colId xmlns:a16="http://schemas.microsoft.com/office/drawing/2014/main" val="780242009"/>
                    </a:ext>
                  </a:extLst>
                </a:gridCol>
                <a:gridCol w="2730774">
                  <a:extLst>
                    <a:ext uri="{9D8B030D-6E8A-4147-A177-3AD203B41FA5}">
                      <a16:colId xmlns:a16="http://schemas.microsoft.com/office/drawing/2014/main" val="3621511953"/>
                    </a:ext>
                  </a:extLst>
                </a:gridCol>
              </a:tblGrid>
              <a:tr h="421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Summary / Approach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Strengths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 / Not Included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615716"/>
                  </a:ext>
                </a:extLst>
              </a:tr>
              <a:tr h="2312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comprehensive classification and analysis of oily sensitive facial skin: a cross-sectional study of young Chinese women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(Kuang et al., 2025)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an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 classification system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oily sensitive skin using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 biophysical parameters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image analysis. Classified skin into subtypes (barrier-sensitive,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neurosensitive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inflammatory-sensitive).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Comprehensive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noninvasive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assessment.</a:t>
                      </a:r>
                      <a:b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Objective classification (overcomes subjective assessment issues).</a:t>
                      </a:r>
                      <a:b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Includes physiological and morphological analysis for accurate skincare recommendations.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Limited demographic (only young Chinese women).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Focuses on skin analysis and classification,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on product recommendation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No integration with AI or recommender systems.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366790"/>
                  </a:ext>
                </a:extLst>
              </a:tr>
              <a:tr h="15695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Skin pH: From Basic Science to Basic Skin Care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(Ali &amp;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Yosipovitch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2013)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Explores the role of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skin pH and acid mantle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 barrier homeostasis, antimicrobial defense, and SC integrity. Discusses endogenous and exogenous factors affecting skin pH and implications for skincare product formulation.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Strong theoretical basis for skincare product design.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Emphasizes importance of maintaining skin acidity.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Links pH with skin disorders (eczema, acne).</a:t>
                      </a:r>
                    </a:p>
                    <a:p>
                      <a:pPr>
                        <a:buNone/>
                      </a:pP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Not a recommendation system.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No computational or AI-based approach.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Does not include modern data-driven personalization techniques.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390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407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DC249-9678-B114-C64F-51CE80B8F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11FDD3-996A-90C1-C2CF-03557EFE8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9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25BC818-DC8E-0F54-762E-52652079014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2679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LITERATURE REVIEW</a:t>
            </a:r>
            <a:endParaRPr lang="en-IN" sz="40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038715B-811A-2DB7-2E98-90936F8090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702092"/>
              </p:ext>
            </p:extLst>
          </p:nvPr>
        </p:nvGraphicFramePr>
        <p:xfrm>
          <a:off x="473964" y="1538858"/>
          <a:ext cx="11244072" cy="4303949"/>
        </p:xfrm>
        <a:graphic>
          <a:graphicData uri="http://schemas.openxmlformats.org/drawingml/2006/table">
            <a:tbl>
              <a:tblPr/>
              <a:tblGrid>
                <a:gridCol w="2837766">
                  <a:extLst>
                    <a:ext uri="{9D8B030D-6E8A-4147-A177-3AD203B41FA5}">
                      <a16:colId xmlns:a16="http://schemas.microsoft.com/office/drawing/2014/main" val="581370495"/>
                    </a:ext>
                  </a:extLst>
                </a:gridCol>
                <a:gridCol w="2837766">
                  <a:extLst>
                    <a:ext uri="{9D8B030D-6E8A-4147-A177-3AD203B41FA5}">
                      <a16:colId xmlns:a16="http://schemas.microsoft.com/office/drawing/2014/main" val="2937487612"/>
                    </a:ext>
                  </a:extLst>
                </a:gridCol>
                <a:gridCol w="2837766">
                  <a:extLst>
                    <a:ext uri="{9D8B030D-6E8A-4147-A177-3AD203B41FA5}">
                      <a16:colId xmlns:a16="http://schemas.microsoft.com/office/drawing/2014/main" val="780242009"/>
                    </a:ext>
                  </a:extLst>
                </a:gridCol>
                <a:gridCol w="2730774">
                  <a:extLst>
                    <a:ext uri="{9D8B030D-6E8A-4147-A177-3AD203B41FA5}">
                      <a16:colId xmlns:a16="http://schemas.microsoft.com/office/drawing/2014/main" val="3621511953"/>
                    </a:ext>
                  </a:extLst>
                </a:gridCol>
              </a:tblGrid>
              <a:tr h="421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Summary / Approach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Strengths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 / Not Included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615716"/>
                  </a:ext>
                </a:extLst>
              </a:tr>
              <a:tr h="2312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Content-based Skincare Product Recommendation System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Gyeongeun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Lee, 2020)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content-based filtering system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skincare recommendation using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ingredient composition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skin type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Utilizes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cosine similarity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TF-IDF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matching products to user profiles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Personalization based on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skin type and ingredient composition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Addresses overspecialization by recommending across categories.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Simple and interpretable approach.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Cold-start problem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new users.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Limited to content-based filtering (no collaborative or hybrid features).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No image-based skin analysis.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366790"/>
                  </a:ext>
                </a:extLst>
              </a:tr>
              <a:tr h="15695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learning-based skin care product recommendation: A focus on cosmetic ingredient analysis and facial skin conditions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(Lee et al., 2024)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Designed a 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model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using 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 encoder for ingredient analysis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U-Net-based CNN for skin analysis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Recommends products by combining ingredient patterns and facial image-based skin condition detection.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Dual approach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(ingredient analysis + AI skin analysis).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Uses advanced deep learning (Transformers &amp; CNN).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Provides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personalized, image-based recommendation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Requires large dataset (data-hungry).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High computational cost.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Ingredient quantity in products often unknown, leading to approximation..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390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718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FDC5B-5CA8-0B66-2646-949892920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483E97-789E-D003-DAC9-1345E92C6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10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17E527B-7DCC-C440-6F9C-A6115773657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2679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LITERATURE REVIEW</a:t>
            </a:r>
            <a:endParaRPr lang="en-IN" sz="40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8AE8B30-1B14-18DC-AAE4-0491F314A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3123005"/>
              </p:ext>
            </p:extLst>
          </p:nvPr>
        </p:nvGraphicFramePr>
        <p:xfrm>
          <a:off x="473964" y="1538858"/>
          <a:ext cx="11285220" cy="3600070"/>
        </p:xfrm>
        <a:graphic>
          <a:graphicData uri="http://schemas.openxmlformats.org/drawingml/2006/table">
            <a:tbl>
              <a:tblPr/>
              <a:tblGrid>
                <a:gridCol w="2848151">
                  <a:extLst>
                    <a:ext uri="{9D8B030D-6E8A-4147-A177-3AD203B41FA5}">
                      <a16:colId xmlns:a16="http://schemas.microsoft.com/office/drawing/2014/main" val="581370495"/>
                    </a:ext>
                  </a:extLst>
                </a:gridCol>
                <a:gridCol w="2848151">
                  <a:extLst>
                    <a:ext uri="{9D8B030D-6E8A-4147-A177-3AD203B41FA5}">
                      <a16:colId xmlns:a16="http://schemas.microsoft.com/office/drawing/2014/main" val="2937487612"/>
                    </a:ext>
                  </a:extLst>
                </a:gridCol>
                <a:gridCol w="2848151">
                  <a:extLst>
                    <a:ext uri="{9D8B030D-6E8A-4147-A177-3AD203B41FA5}">
                      <a16:colId xmlns:a16="http://schemas.microsoft.com/office/drawing/2014/main" val="780242009"/>
                    </a:ext>
                  </a:extLst>
                </a:gridCol>
                <a:gridCol w="2740767">
                  <a:extLst>
                    <a:ext uri="{9D8B030D-6E8A-4147-A177-3AD203B41FA5}">
                      <a16:colId xmlns:a16="http://schemas.microsoft.com/office/drawing/2014/main" val="3621511953"/>
                    </a:ext>
                  </a:extLst>
                </a:gridCol>
              </a:tblGrid>
              <a:tr h="555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Summary / Approach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Strengths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 / Not Included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615716"/>
                  </a:ext>
                </a:extLst>
              </a:tr>
              <a:tr h="3044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Machine Learning Based Recommendation System For Cosmetics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(Chaurasia et al., 2022)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content-based recommendation system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using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 matrix representation of ingredients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similarity measures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Handles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six product categories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five skin types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Focuses on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ingredient-level personalization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Handles multiple product categories and skin types.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Simple to implement and computationally efficient.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No hybrid approach (lacks collaborative filtering).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incorporate real-time skin condition analysis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Dataset size and diversity limitations.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366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5372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E5E88-A7D1-5C70-8B2C-0EB3B9B52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61599-0A1A-C0EA-3853-7B5048197C2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2679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TIMELINE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432E1E-3355-33DB-B233-C56F5554CCCC}"/>
              </a:ext>
            </a:extLst>
          </p:cNvPr>
          <p:cNvSpPr txBox="1"/>
          <p:nvPr/>
        </p:nvSpPr>
        <p:spPr>
          <a:xfrm>
            <a:off x="1253289" y="5279448"/>
            <a:ext cx="799899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Gantt chart to plan weekly goals.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phase reviewed at the end of each week.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helped with flexibility and changes.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Deadlines were set for data, model, and visualization tasks.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0048942-98DE-E8E8-99C0-13E84CCEA8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827170"/>
              </p:ext>
            </p:extLst>
          </p:nvPr>
        </p:nvGraphicFramePr>
        <p:xfrm>
          <a:off x="2066544" y="1393780"/>
          <a:ext cx="7784444" cy="3654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84946">
                  <a:extLst>
                    <a:ext uri="{9D8B030D-6E8A-4147-A177-3AD203B41FA5}">
                      <a16:colId xmlns:a16="http://schemas.microsoft.com/office/drawing/2014/main" val="3097644659"/>
                    </a:ext>
                  </a:extLst>
                </a:gridCol>
                <a:gridCol w="3999498">
                  <a:extLst>
                    <a:ext uri="{9D8B030D-6E8A-4147-A177-3AD203B41FA5}">
                      <a16:colId xmlns:a16="http://schemas.microsoft.com/office/drawing/2014/main" val="3624770907"/>
                    </a:ext>
                  </a:extLst>
                </a:gridCol>
              </a:tblGrid>
              <a:tr h="41563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Duration</a:t>
                      </a:r>
                      <a:endParaRPr lang="en-IN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823867"/>
                  </a:ext>
                </a:extLst>
              </a:tr>
              <a:tr h="572715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Requirement gathering &amp; dataset preparation.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 – 2 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101745"/>
                  </a:ext>
                </a:extLst>
              </a:tr>
              <a:tr h="572715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development (recommendation engine).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3 – 4 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7495842"/>
                  </a:ext>
                </a:extLst>
              </a:tr>
              <a:tr h="41563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Skin type quiz module.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5 – 6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040380"/>
                  </a:ext>
                </a:extLst>
              </a:tr>
              <a:tr h="41563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 development &amp; integration.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7 – 8 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623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&amp; evaluation.</a:t>
                      </a:r>
                    </a:p>
                    <a:p>
                      <a:pPr algn="ctr"/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9 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938762"/>
                  </a:ext>
                </a:extLst>
              </a:tr>
              <a:tr h="41563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paper drafting &amp; submission.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10 – 11 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42680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A2AA1A-D026-4944-4A4F-2D0CE361A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150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FD523-0584-73C5-9415-DE149D816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EAACF-5B38-1DB1-4DF4-F8675D15007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2679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PROJECT OUTCOME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A730080-84C6-5681-E293-4A3B7DD58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452" y="1939296"/>
            <a:ext cx="11013707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 Publication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AI-driven skincare recommendation systems.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Working Prototype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a recommendation engine integrated with a user-friendly interface.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Skin-type Detection Quiz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better personalization.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real-world datasets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E-commerce collaboration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live product availability.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ML models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better accuracy.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D4A34-0F04-E608-5F55-0BF98C2F8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685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575889-1061-6EC4-1DF4-82F93684D353}"/>
              </a:ext>
            </a:extLst>
          </p:cNvPr>
          <p:cNvSpPr txBox="1"/>
          <p:nvPr/>
        </p:nvSpPr>
        <p:spPr>
          <a:xfrm>
            <a:off x="2029968" y="2167128"/>
            <a:ext cx="78729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BE2653-193F-693B-E845-1AC4DFAD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315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1214</Words>
  <Application>Microsoft Office PowerPoint</Application>
  <PresentationFormat>Widescreen</PresentationFormat>
  <Paragraphs>141</Paragraphs>
  <Slides>13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tanishka_gupta</dc:creator>
  <cp:lastModifiedBy>Tannoo Shukla</cp:lastModifiedBy>
  <cp:revision>7</cp:revision>
  <dcterms:created xsi:type="dcterms:W3CDTF">2025-08-16T13:47:45Z</dcterms:created>
  <dcterms:modified xsi:type="dcterms:W3CDTF">2025-12-31T06:54:07Z</dcterms:modified>
</cp:coreProperties>
</file>